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091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10" Type="http://schemas.openxmlformats.org/officeDocument/2006/relationships/image" Target="../media/image24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94360"/>
            <a:ext cx="8321040" cy="1143000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&amp;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TRACKING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Communication System Using Node.js, Socket.IO &amp; MySQL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560320"/>
            <a:ext cx="2011680" cy="777240"/>
          </a:xfrm>
          <a:prstGeom prst="rect">
            <a:avLst/>
          </a:prstGeom>
          <a:solidFill>
            <a:srgbClr val="0A2040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87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Gupta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560320"/>
            <a:ext cx="2011680" cy="777240"/>
          </a:xfrm>
          <a:prstGeom prst="rect">
            <a:avLst/>
          </a:prstGeom>
          <a:solidFill>
            <a:srgbClr val="0A2040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587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560320"/>
            <a:ext cx="2011680" cy="777240"/>
          </a:xfrm>
          <a:prstGeom prst="rect">
            <a:avLst/>
          </a:prstGeom>
          <a:solidFill>
            <a:srgbClr val="0A2040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587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1772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Jain University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2560320"/>
            <a:ext cx="2011680" cy="777240"/>
          </a:xfrm>
          <a:prstGeom prst="rect">
            <a:avLst/>
          </a:prstGeom>
          <a:solidFill>
            <a:srgbClr val="0A2040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587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703320"/>
            <a:ext cx="411480" cy="41148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703320"/>
            <a:ext cx="411480" cy="41148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703320"/>
            <a:ext cx="411480" cy="411480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703320"/>
            <a:ext cx="411480" cy="411480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" y="37033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45536" y="0"/>
            <a:ext cx="54864" cy="5143500"/>
          </a:xfrm>
          <a:prstGeom prst="rect">
            <a:avLst/>
          </a:prstGeom>
          <a:solidFill>
            <a:srgbClr val="0A3060"/>
          </a:solidFill>
          <a:ln w="12700">
            <a:solidFill>
              <a:srgbClr val="0A3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143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1463040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83280" y="502920"/>
            <a:ext cx="5486400" cy="566928"/>
          </a:xfrm>
          <a:prstGeom prst="rect">
            <a:avLst/>
          </a:prstGeom>
          <a:solidFill>
            <a:srgbClr val="0A1F38"/>
          </a:solidFill>
          <a:ln w="10160">
            <a:solidFill>
              <a:srgbClr val="00C8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5760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55778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real-time communication platform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83280" y="1234440"/>
            <a:ext cx="5486400" cy="566928"/>
          </a:xfrm>
          <a:prstGeom prst="rect">
            <a:avLst/>
          </a:prstGeom>
          <a:solidFill>
            <a:srgbClr val="0A1F38"/>
          </a:solidFill>
          <a:ln w="10160">
            <a:solidFill>
              <a:srgbClr val="00C8F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30759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69080" y="128930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 using Socket.IO WebSocket protocol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383280" y="1965960"/>
            <a:ext cx="5486400" cy="566928"/>
          </a:xfrm>
          <a:prstGeom prst="rect">
            <a:avLst/>
          </a:prstGeom>
          <a:solidFill>
            <a:srgbClr val="0A1F38"/>
          </a:solidFill>
          <a:ln w="10160">
            <a:solidFill>
              <a:srgbClr val="00C8F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03911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69080" y="20208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 user tracking and presence detection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3383280" y="2697480"/>
            <a:ext cx="5486400" cy="566928"/>
          </a:xfrm>
          <a:prstGeom prst="rect">
            <a:avLst/>
          </a:prstGeom>
          <a:solidFill>
            <a:srgbClr val="0A1F38"/>
          </a:solidFill>
          <a:ln w="10160">
            <a:solidFill>
              <a:srgbClr val="00C8FF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770632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069080" y="275234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message storage with MySQL database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3383280" y="3429000"/>
            <a:ext cx="5486400" cy="566928"/>
          </a:xfrm>
          <a:prstGeom prst="rect">
            <a:avLst/>
          </a:prstGeom>
          <a:solidFill>
            <a:srgbClr val="0A1F38"/>
          </a:solidFill>
          <a:ln w="10160">
            <a:solidFill>
              <a:srgbClr val="00C8FF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50215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069080" y="34838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web interface for all devices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3383280" y="4160520"/>
            <a:ext cx="5486400" cy="566928"/>
          </a:xfrm>
          <a:prstGeom prst="rect">
            <a:avLst/>
          </a:prstGeom>
          <a:solidFill>
            <a:srgbClr val="0A1F38"/>
          </a:solidFill>
          <a:ln w="10160">
            <a:solidFill>
              <a:srgbClr val="00C8FF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233672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069080" y="421538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event-driven networking architecture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5303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future of real-time communication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566160"/>
          </a:xfrm>
          <a:prstGeom prst="rect">
            <a:avLst/>
          </a:prstGeom>
          <a:solidFill>
            <a:srgbClr val="07153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 is essential in modern digital ecosystems.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HTTP polling creates latency; WebSockets solve this with persistent connections.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enables bidirectional, event-driven communication.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full-stack implementation using Node.js, Express, and MySQL.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071530"/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28800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0" y="1828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0" y="20482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message delivery with zero delay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8716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4871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User Tracking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03520" y="27066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presence &amp; user status monitoring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4553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31455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303520" y="33649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MySQL message logging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8039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8039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0" y="4023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 &amp; mobile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46227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44622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Architecture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303520" y="46817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lightweight &amp; reliable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TECHNOLOGIES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powering the real-time chat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68A063"/>
            </a:solidFill>
            <a:prstDash val="solid"/>
          </a:ln>
          <a:effectLst>
            <a:outerShdw blurRad="101600" dist="25400" dir="8100000" algn="bl" rotWithShape="0">
              <a:srgbClr val="68A063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07008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22128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JS runtime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0972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AAAAAA"/>
            </a:solidFill>
            <a:prstDash val="solid"/>
          </a:ln>
          <a:effectLst>
            <a:outerShdw blurRad="101600" dist="25400" dir="8100000" algn="bl" rotWithShape="0">
              <a:srgbClr val="AAAAAA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207008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468880" y="22128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framework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10972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FFFFFF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207008"/>
            <a:ext cx="658368" cy="658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617720" y="22128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engine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00618A"/>
            </a:solidFill>
            <a:prstDash val="solid"/>
          </a:ln>
          <a:effectLst>
            <a:outerShdw blurRad="101600" dist="25400" dir="8100000" algn="bl" rotWithShape="0">
              <a:srgbClr val="00618A">
                <a:alpha val="3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207008"/>
            <a:ext cx="658368" cy="658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766560" y="22128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0040" y="29260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E34F26"/>
            </a:solidFill>
            <a:prstDash val="solid"/>
          </a:ln>
          <a:effectLst>
            <a:outerShdw blurRad="101600" dist="25400" dir="8100000" algn="bl" rotWithShape="0">
              <a:srgbClr val="E34F26">
                <a:alpha val="3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035808"/>
            <a:ext cx="658368" cy="6583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0040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320040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structure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2468880" y="29260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1572B6"/>
            </a:solidFill>
            <a:prstDash val="solid"/>
          </a:ln>
          <a:effectLst>
            <a:outerShdw blurRad="101600" dist="25400" dir="8100000" algn="bl" rotWithShape="0">
              <a:srgbClr val="1572B6">
                <a:alpha val="3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3035808"/>
            <a:ext cx="658368" cy="6583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468880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2468880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layout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617720" y="29260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F7DF1E"/>
            </a:solidFill>
            <a:prstDash val="solid"/>
          </a:ln>
          <a:effectLst>
            <a:outerShdw blurRad="101600" dist="25400" dir="8100000" algn="bl" rotWithShape="0">
              <a:srgbClr val="F7DF1E">
                <a:alpha val="30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3035808"/>
            <a:ext cx="658368" cy="6583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617720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4617720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logic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766560" y="2926080"/>
            <a:ext cx="1965960" cy="1600200"/>
          </a:xfrm>
          <a:prstGeom prst="rect">
            <a:avLst/>
          </a:prstGeom>
          <a:solidFill>
            <a:srgbClr val="061020"/>
          </a:solidFill>
          <a:ln w="19050">
            <a:solidFill>
              <a:srgbClr val="007ACC"/>
            </a:solidFill>
            <a:prstDash val="solid"/>
          </a:ln>
          <a:effectLst>
            <a:outerShdw blurRad="101600" dist="25400" dir="8100000" algn="bl" rotWithShape="0">
              <a:srgbClr val="007ACC">
                <a:alpha val="30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3035808"/>
            <a:ext cx="658368" cy="6583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66560" y="3749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6766560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EA"/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real-time event-driven communication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645920" cy="914400"/>
          </a:xfrm>
          <a:prstGeom prst="rect">
            <a:avLst/>
          </a:prstGeom>
          <a:solidFill>
            <a:srgbClr val="061828"/>
          </a:solidFill>
          <a:ln w="25400">
            <a:solidFill>
              <a:srgbClr val="0088DD"/>
            </a:solidFill>
            <a:prstDash val="solid"/>
          </a:ln>
          <a:effectLst>
            <a:outerShdw blurRad="127000" dist="12700" dir="8100000" algn="bl" rotWithShape="0">
              <a:srgbClr val="0088DD">
                <a:alpha val="5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143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8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1691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26080" y="1097280"/>
            <a:ext cx="1645920" cy="914400"/>
          </a:xfrm>
          <a:prstGeom prst="rect">
            <a:avLst/>
          </a:prstGeom>
          <a:solidFill>
            <a:srgbClr val="061828"/>
          </a:solidFill>
          <a:ln w="25400">
            <a:solidFill>
              <a:srgbClr val="00C8FF"/>
            </a:solidFill>
            <a:prstDash val="solid"/>
          </a:ln>
          <a:effectLst>
            <a:outerShdw blurRad="127000" dist="12700" dir="8100000" algn="bl" rotWithShape="0">
              <a:srgbClr val="00C8FF">
                <a:alpha val="5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1430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143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926080" y="1691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577840" y="1097280"/>
            <a:ext cx="1645920" cy="914400"/>
          </a:xfrm>
          <a:prstGeom prst="rect">
            <a:avLst/>
          </a:prstGeom>
          <a:solidFill>
            <a:srgbClr val="061828"/>
          </a:solidFill>
          <a:ln w="25400">
            <a:solidFill>
              <a:srgbClr val="68A063"/>
            </a:solidFill>
            <a:prstDash val="solid"/>
          </a:ln>
          <a:effectLst>
            <a:outerShdw blurRad="127000" dist="12700" dir="8100000" algn="bl" rotWithShape="0">
              <a:srgbClr val="68A063">
                <a:alpha val="5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143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1143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577840" y="1691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223760" y="2926080"/>
            <a:ext cx="1645920" cy="914400"/>
          </a:xfrm>
          <a:prstGeom prst="rect">
            <a:avLst/>
          </a:prstGeom>
          <a:solidFill>
            <a:srgbClr val="061828"/>
          </a:solidFill>
          <a:ln w="25400">
            <a:solidFill>
              <a:srgbClr val="00618A"/>
            </a:solidFill>
            <a:prstDash val="solid"/>
          </a:ln>
          <a:effectLst>
            <a:outerShdw blurRad="127000" dist="12700" dir="8100000" algn="bl" rotWithShape="0">
              <a:srgbClr val="00618A">
                <a:alpha val="5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9718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0" y="29718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22376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874520" y="1554480"/>
            <a:ext cx="105156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920240" y="13258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572000" y="1554480"/>
            <a:ext cx="100584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63440" y="1325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8046720" y="2011680"/>
            <a:ext cx="0" cy="914400"/>
          </a:xfrm>
          <a:prstGeom prst="line">
            <a:avLst/>
          </a:prstGeom>
          <a:noFill/>
          <a:ln w="25400">
            <a:solidFill>
              <a:srgbClr val="0061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65008" y="2286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274320" y="2926080"/>
            <a:ext cx="1554480" cy="502920"/>
          </a:xfrm>
          <a:prstGeom prst="rect">
            <a:avLst/>
          </a:prstGeom>
          <a:solidFill>
            <a:srgbClr val="020E1C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4320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Events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017520" y="2926080"/>
            <a:ext cx="1554480" cy="502920"/>
          </a:xfrm>
          <a:prstGeom prst="rect">
            <a:avLst/>
          </a:prstGeom>
          <a:solidFill>
            <a:srgbClr val="020E1C"/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017520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577840" y="2926080"/>
            <a:ext cx="1554480" cy="502920"/>
          </a:xfrm>
          <a:prstGeom prst="rect">
            <a:avLst/>
          </a:prstGeom>
          <a:solidFill>
            <a:srgbClr val="020E1C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77840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Logic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040F1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Events Flow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57200" y="4005072"/>
            <a:ext cx="1417320" cy="64008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57200" y="405993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on('connect')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121408" y="4005072"/>
            <a:ext cx="1417320" cy="640080"/>
          </a:xfrm>
          <a:prstGeom prst="rect">
            <a:avLst/>
          </a:prstGeom>
          <a:solidFill>
            <a:srgbClr val="061828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2121408" y="405993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on('join')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785616" y="4005072"/>
            <a:ext cx="1417320" cy="640080"/>
          </a:xfrm>
          <a:prstGeom prst="rect">
            <a:avLst/>
          </a:prstGeom>
          <a:solidFill>
            <a:srgbClr val="061828"/>
          </a:solidFill>
          <a:ln w="15240">
            <a:solidFill>
              <a:srgbClr val="FFD60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785616" y="405993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on('message')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449824" y="4005072"/>
            <a:ext cx="1417320" cy="640080"/>
          </a:xfrm>
          <a:prstGeom prst="rect">
            <a:avLst/>
          </a:prstGeom>
          <a:solidFill>
            <a:srgbClr val="061828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449824" y="405993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on('typing')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114032" y="4005072"/>
            <a:ext cx="1417320" cy="640080"/>
          </a:xfrm>
          <a:prstGeom prst="rect">
            <a:avLst/>
          </a:prstGeom>
          <a:solidFill>
            <a:srgbClr val="061828"/>
          </a:solidFill>
          <a:ln w="15240">
            <a:solidFill>
              <a:srgbClr val="FF4444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114032" y="405993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on('disconnect')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WORKING PROCEDURE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message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88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30352" cy="530352"/>
          </a:xfrm>
          <a:prstGeom prst="ellipse">
            <a:avLst/>
          </a:prstGeom>
          <a:solidFill>
            <a:srgbClr val="0088DD"/>
          </a:solidFill>
          <a:ln w="12700">
            <a:solidFill>
              <a:srgbClr val="008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11556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0607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00200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navigates to web app URL in browser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1993392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2103120"/>
            <a:ext cx="530352" cy="53035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103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1031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0482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600200" y="2340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display name to identify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2980944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FF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3090672"/>
            <a:ext cx="530352" cy="530352"/>
          </a:xfrm>
          <a:prstGeom prst="ellipse">
            <a:avLst/>
          </a:prstGeom>
          <a:solidFill>
            <a:srgbClr val="00FFEA"/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3090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09067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035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Connection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600200" y="3328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handshake with Socket.IO server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28600" y="3968496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68A06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0040" y="4078224"/>
            <a:ext cx="530352" cy="530352"/>
          </a:xfrm>
          <a:prstGeom prst="ellipse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40782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078224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4023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Chat Room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600200" y="4315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joins default or specified channel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663440" y="100584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FFD60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54880" y="1115568"/>
            <a:ext cx="530352" cy="5303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754880" y="1115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1115568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035040" y="10607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Transmitted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035040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bidirectional message delivery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663440" y="1993392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754880" y="2103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3248" y="2103120"/>
            <a:ext cx="502920" cy="5029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035040" y="20482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035040" y="2340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persisted to MySQL tables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663440" y="2980944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4754880" y="3090672"/>
            <a:ext cx="530352" cy="5303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754880" y="3090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3248" y="3090672"/>
            <a:ext cx="502920" cy="5029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035040" y="3035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Updated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6035040" y="3328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presence broadcast to all clients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4434840" y="1371600"/>
            <a:ext cx="22860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434840" y="2359152"/>
            <a:ext cx="22860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4434840" y="3346704"/>
            <a:ext cx="22860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EA"/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FEATURES OF THE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system powerful and production-ready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C8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8872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60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Messaging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371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message delivery with zero perceptible lag using WebSocket protocol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FFE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18872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060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User Display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94960" y="1371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sidebar showing active users with instant join/leave notifications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196596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FFD6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14884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0208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0120" y="2331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'User is typing...' in real time for natural conversation flow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196596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00E67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14884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20208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94960" y="2331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 updates; no page refresh required for any state change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292608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FF6B35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10896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2980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60120" y="3291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layout adapts to desktop, tablet, and mobile screen sizes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09160" y="2926080"/>
            <a:ext cx="420624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7B2FBE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108960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94960" y="2980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Logging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394960" y="3291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messages stored in MySQL with timestamps for history retrieval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040F1E"/>
          </a:solidFill>
          <a:ln w="15240">
            <a:solidFill>
              <a:srgbClr val="68A063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4069080"/>
            <a:ext cx="438912" cy="4389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87552" y="39410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Server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987552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event-loop handles thousands of concurrent connections efficiently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DATABASE DESIGN &amp; EVENT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2103120"/>
          </a:xfrm>
          <a:prstGeom prst="rect">
            <a:avLst/>
          </a:prstGeom>
          <a:solidFill>
            <a:srgbClr val="040F1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3931920" cy="38404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3931920" cy="292608"/>
          </a:xfrm>
          <a:prstGeom prst="rect">
            <a:avLst/>
          </a:prstGeom>
          <a:solidFill>
            <a:srgbClr val="060C18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261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AUTO_INCREMENT PK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3931920" cy="292608"/>
          </a:xfrm>
          <a:prstGeom prst="rect">
            <a:avLst/>
          </a:prstGeom>
          <a:solidFill>
            <a:srgbClr val="040F1E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819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 UNIQUE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874520"/>
            <a:ext cx="3931920" cy="292608"/>
          </a:xfrm>
          <a:prstGeom prst="rect">
            <a:avLst/>
          </a:prstGeom>
          <a:solidFill>
            <a:srgbClr val="060C18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01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1901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3931920" cy="292608"/>
          </a:xfrm>
          <a:prstGeom prst="rect">
            <a:avLst/>
          </a:prstGeom>
          <a:solidFill>
            <a:srgbClr val="040F1E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219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22219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ENUM('online','offline')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514600"/>
            <a:ext cx="3931920" cy="292608"/>
          </a:xfrm>
          <a:prstGeom prst="rect">
            <a:avLst/>
          </a:prstGeom>
          <a:solidFill>
            <a:srgbClr val="060C18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420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joined_at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25420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777240"/>
            <a:ext cx="3931920" cy="2103120"/>
          </a:xfrm>
          <a:prstGeom prst="rect">
            <a:avLst/>
          </a:prstGeom>
          <a:solidFill>
            <a:srgbClr val="040F1E"/>
          </a:solidFill>
          <a:ln w="19050">
            <a:solidFill>
              <a:srgbClr val="00F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777240"/>
            <a:ext cx="3931920" cy="384048"/>
          </a:xfrm>
          <a:prstGeom prst="rect">
            <a:avLst/>
          </a:prstGeom>
          <a:solidFill>
            <a:srgbClr val="00FFEA">
              <a:alpha val="70000"/>
            </a:srgbClr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804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1234440"/>
            <a:ext cx="3931920" cy="292608"/>
          </a:xfrm>
          <a:prstGeom prst="rect">
            <a:avLst/>
          </a:prstGeom>
          <a:solidFill>
            <a:srgbClr val="060C18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1261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12618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AUTO_INCREMENT PK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1554480"/>
            <a:ext cx="3931920" cy="292608"/>
          </a:xfrm>
          <a:prstGeom prst="rect">
            <a:avLst/>
          </a:prstGeom>
          <a:solidFill>
            <a:srgbClr val="040F1E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15819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5819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(FK → users.id)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1874520"/>
            <a:ext cx="3931920" cy="292608"/>
          </a:xfrm>
          <a:prstGeom prst="rect">
            <a:avLst/>
          </a:prstGeom>
          <a:solidFill>
            <a:srgbClr val="060C18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1901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90195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2194560"/>
            <a:ext cx="3931920" cy="292608"/>
          </a:xfrm>
          <a:prstGeom prst="rect">
            <a:avLst/>
          </a:prstGeom>
          <a:solidFill>
            <a:srgbClr val="040F1E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2219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221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2514600"/>
            <a:ext cx="3931920" cy="292608"/>
          </a:xfrm>
          <a:prstGeom prst="rect">
            <a:avLst/>
          </a:prstGeom>
          <a:solidFill>
            <a:srgbClr val="060C18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25420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5420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0520" y="1554480"/>
            <a:ext cx="822960" cy="0"/>
          </a:xfrm>
          <a:prstGeom prst="line">
            <a:avLst/>
          </a:prstGeom>
          <a:noFill/>
          <a:ln w="19050">
            <a:solidFill>
              <a:srgbClr val="FFD6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1325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Events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4320" y="3364992"/>
            <a:ext cx="1993392" cy="1481328"/>
          </a:xfrm>
          <a:prstGeom prst="rect">
            <a:avLst/>
          </a:prstGeom>
          <a:solidFill>
            <a:srgbClr val="040F1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3410712"/>
            <a:ext cx="685800" cy="685800"/>
          </a:xfrm>
          <a:prstGeom prst="ellipse">
            <a:avLst/>
          </a:prstGeom>
          <a:solidFill>
            <a:srgbClr val="00C8FF">
              <a:alpha val="5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3419856"/>
            <a:ext cx="649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74320" y="416052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on('join')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7472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the chat room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41448" y="3364992"/>
            <a:ext cx="1993392" cy="1481328"/>
          </a:xfrm>
          <a:prstGeom prst="rect">
            <a:avLst/>
          </a:prstGeom>
          <a:solidFill>
            <a:srgbClr val="040F1E"/>
          </a:solidFill>
          <a:ln w="19050">
            <a:solidFill>
              <a:srgbClr val="00FF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81528" y="3410712"/>
            <a:ext cx="685800" cy="685800"/>
          </a:xfrm>
          <a:prstGeom prst="ellipse">
            <a:avLst/>
          </a:prstGeom>
          <a:solidFill>
            <a:srgbClr val="00FFEA">
              <a:alpha val="50000"/>
            </a:srgbClr>
          </a:solidFill>
          <a:ln w="12700">
            <a:solidFill>
              <a:srgbClr val="00FF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99816" y="3419856"/>
            <a:ext cx="649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441448" y="416052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on('message')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514600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 to all clients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08576" y="3364992"/>
            <a:ext cx="1993392" cy="1481328"/>
          </a:xfrm>
          <a:prstGeom prst="rect">
            <a:avLst/>
          </a:prstGeom>
          <a:solidFill>
            <a:srgbClr val="040F1E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48656" y="3410712"/>
            <a:ext cx="685800" cy="685800"/>
          </a:xfrm>
          <a:prstGeom prst="ellipse">
            <a:avLst/>
          </a:prstGeom>
          <a:solidFill>
            <a:srgbClr val="FFD600">
              <a:alpha val="5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66944" y="3419856"/>
            <a:ext cx="649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608576" y="416052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on('typing')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81728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 broadcast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75704" y="3364992"/>
            <a:ext cx="1993392" cy="1481328"/>
          </a:xfrm>
          <a:prstGeom prst="rect">
            <a:avLst/>
          </a:prstGeom>
          <a:solidFill>
            <a:srgbClr val="040F1E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15784" y="3410712"/>
            <a:ext cx="685800" cy="685800"/>
          </a:xfrm>
          <a:prstGeom prst="ellipse">
            <a:avLst/>
          </a:prstGeom>
          <a:solidFill>
            <a:srgbClr val="FF4444">
              <a:alpha val="5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34072" y="3419856"/>
            <a:ext cx="649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775704" y="416052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on('disconnect')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48856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leaves, list updated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TESTING &amp;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 components tested and verified successfully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560320" cy="411480"/>
          </a:xfrm>
          <a:prstGeom prst="rect">
            <a:avLst/>
          </a:prstGeom>
          <a:solidFill>
            <a:srgbClr val="00306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960120"/>
            <a:ext cx="1828800" cy="411480"/>
          </a:xfrm>
          <a:prstGeom prst="rect">
            <a:avLst/>
          </a:prstGeom>
          <a:solidFill>
            <a:srgbClr val="00306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645920" cy="411480"/>
          </a:xfrm>
          <a:prstGeom prst="rect">
            <a:avLst/>
          </a:prstGeom>
          <a:solidFill>
            <a:srgbClr val="00306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2377440" cy="411480"/>
          </a:xfrm>
          <a:prstGeom prst="rect">
            <a:avLst/>
          </a:prstGeom>
          <a:solidFill>
            <a:srgbClr val="00306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960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25603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716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371600"/>
            <a:ext cx="182880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1371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connect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6459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3716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37744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3716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event fired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847088"/>
            <a:ext cx="256032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847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1847088"/>
            <a:ext cx="182880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18470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press Enter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847088"/>
            <a:ext cx="164592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470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1847088"/>
            <a:ext cx="237744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8470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Broadcasted instantly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322576"/>
            <a:ext cx="25603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3225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User Display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2322576"/>
            <a:ext cx="182880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23225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browser tabs opened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322576"/>
            <a:ext cx="16459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32257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2322576"/>
            <a:ext cx="237744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updates live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798064"/>
            <a:ext cx="256032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9806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2798064"/>
            <a:ext cx="182880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279806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10 messages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798064"/>
            <a:ext cx="164592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9806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2798064"/>
            <a:ext cx="237744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7980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stored in MySQL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273552"/>
            <a:ext cx="25603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34640" y="3273552"/>
            <a:ext cx="182880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0360" y="32735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typing in chat box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3273552"/>
            <a:ext cx="16459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2735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09360" y="3273552"/>
            <a:ext cx="237744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32735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 users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749040"/>
            <a:ext cx="256032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749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Handling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34640" y="3749040"/>
            <a:ext cx="182880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0360" y="3749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browser tab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3749040"/>
            <a:ext cx="164592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7490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09360" y="3749040"/>
            <a:ext cx="2377440" cy="438912"/>
          </a:xfrm>
          <a:prstGeom prst="rect">
            <a:avLst/>
          </a:prstGeom>
          <a:solidFill>
            <a:srgbClr val="060C18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749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removed from list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224528"/>
            <a:ext cx="25603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2245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Reconnection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34640" y="4224528"/>
            <a:ext cx="182880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80360" y="42245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drop &amp; restore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63440" y="4224528"/>
            <a:ext cx="164592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9160" y="42245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PASSED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4224528"/>
            <a:ext cx="2377440" cy="438912"/>
          </a:xfrm>
          <a:prstGeom prst="rect">
            <a:avLst/>
          </a:prstGeom>
          <a:solidFill>
            <a:srgbClr val="040F1E"/>
          </a:solidFill>
          <a:ln w="6350">
            <a:solidFill>
              <a:srgbClr val="0A20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55080" y="42245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reconnects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003020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764024"/>
            <a:ext cx="274320" cy="274320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777240" y="47640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Test Cases PASSED  —  100% Pass Rate  —  System fully operational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FUTURE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ahead — expanding capabilities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00C8FF"/>
            </a:solidFill>
            <a:prstDash val="solid"/>
          </a:ln>
          <a:effectLst>
            <a:outerShdw blurRad="127000" dist="25400" dir="8100000" algn="bl" rotWithShape="0">
              <a:srgbClr val="00C8F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15568"/>
            <a:ext cx="713232" cy="713232"/>
          </a:xfrm>
          <a:prstGeom prst="ellipse">
            <a:avLst/>
          </a:prstGeom>
          <a:solidFill>
            <a:srgbClr val="00C8FF">
              <a:alpha val="45000"/>
            </a:srgbClr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143000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92024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Chat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22677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encrypted DMs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102412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00FFEA"/>
            </a:solidFill>
            <a:prstDash val="solid"/>
          </a:ln>
          <a:effectLst>
            <a:outerShdw blurRad="127000" dist="25400" dir="8100000" algn="bl" rotWithShape="0">
              <a:srgbClr val="00FFE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90672" y="1115568"/>
            <a:ext cx="713232" cy="713232"/>
          </a:xfrm>
          <a:prstGeom prst="ellipse">
            <a:avLst/>
          </a:prstGeom>
          <a:solidFill>
            <a:srgbClr val="00FFEA">
              <a:alpha val="45000"/>
            </a:srgbClr>
          </a:solidFill>
          <a:ln w="12700">
            <a:solidFill>
              <a:srgbClr val="00FFE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1143000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50592" y="192024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Voice/Video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50592" y="22677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calling support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26864" y="102412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FF6B35"/>
            </a:solidFill>
            <a:prstDash val="solid"/>
          </a:ln>
          <a:effectLst>
            <a:outerShdw blurRad="127000" dist="25400" dir="8100000" algn="bl" rotWithShape="0">
              <a:srgbClr val="FF6B35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66944" y="1115568"/>
            <a:ext cx="713232" cy="71323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1143000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26864" y="192024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26864" y="22677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files &amp; media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03136" y="102412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FFD600"/>
            </a:solidFill>
            <a:prstDash val="solid"/>
          </a:ln>
          <a:effectLst>
            <a:outerShdw blurRad="127000" dist="25400" dir="8100000" algn="bl" rotWithShape="0">
              <a:srgbClr val="FFD6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43216" y="1115568"/>
            <a:ext cx="713232" cy="713232"/>
          </a:xfrm>
          <a:prstGeom prst="ellipse">
            <a:avLst/>
          </a:prstGeom>
          <a:solidFill>
            <a:srgbClr val="FFD600">
              <a:alpha val="45000"/>
            </a:srgbClr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143000"/>
            <a:ext cx="658368" cy="6583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03136" y="192024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Channels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03136" y="226771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 chat rooms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294436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00E676"/>
            </a:solidFill>
            <a:prstDash val="solid"/>
          </a:ln>
          <a:effectLst>
            <a:outerShdw blurRad="127000" dist="25400" dir="8100000" algn="bl" rotWithShape="0">
              <a:srgbClr val="00E676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14400" y="3035808"/>
            <a:ext cx="713232" cy="713232"/>
          </a:xfrm>
          <a:prstGeom prst="ellipse">
            <a:avLst/>
          </a:prstGeom>
          <a:solidFill>
            <a:srgbClr val="00E676">
              <a:alpha val="45000"/>
            </a:srgbClr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3063240"/>
            <a:ext cx="658368" cy="6583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4320" y="38404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274320" y="418795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OAuth2 login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450592" y="294436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7B2FBE"/>
            </a:solidFill>
            <a:prstDash val="solid"/>
          </a:ln>
          <a:effectLst>
            <a:outerShdw blurRad="127000" dist="25400" dir="8100000" algn="bl" rotWithShape="0">
              <a:srgbClr val="7B2FBE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090672" y="3035808"/>
            <a:ext cx="713232" cy="71323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104" y="3063240"/>
            <a:ext cx="658368" cy="6583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450592" y="38404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450592" y="418795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production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626864" y="294436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0088DD"/>
            </a:solidFill>
            <a:prstDash val="solid"/>
          </a:ln>
          <a:effectLst>
            <a:outerShdw blurRad="127000" dist="25400" dir="8100000" algn="bl" rotWithShape="0">
              <a:srgbClr val="0088DD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266944" y="3035808"/>
            <a:ext cx="713232" cy="713232"/>
          </a:xfrm>
          <a:prstGeom prst="ellipse">
            <a:avLst/>
          </a:prstGeom>
          <a:solidFill>
            <a:srgbClr val="0088DD">
              <a:alpha val="45000"/>
            </a:srgbClr>
          </a:solidFill>
          <a:ln w="12700">
            <a:solidFill>
              <a:srgbClr val="0088DD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376" y="3063240"/>
            <a:ext cx="658368" cy="6583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26864" y="38404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626864" y="418795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client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803136" y="2944368"/>
            <a:ext cx="1993392" cy="1719072"/>
          </a:xfrm>
          <a:prstGeom prst="rect">
            <a:avLst/>
          </a:prstGeom>
          <a:solidFill>
            <a:srgbClr val="040F1E"/>
          </a:solidFill>
          <a:ln w="19050">
            <a:solidFill>
              <a:srgbClr val="FF4444"/>
            </a:solidFill>
            <a:prstDash val="solid"/>
          </a:ln>
          <a:effectLst>
            <a:outerShdw blurRad="127000" dist="25400" dir="8100000" algn="bl" rotWithShape="0">
              <a:srgbClr val="FF4444">
                <a:alpha val="3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443216" y="3035808"/>
            <a:ext cx="713232" cy="713232"/>
          </a:xfrm>
          <a:prstGeom prst="ellipse">
            <a:avLst/>
          </a:prstGeom>
          <a:solidFill>
            <a:srgbClr val="FF4444">
              <a:alpha val="45000"/>
            </a:srgbClr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0648" y="3063240"/>
            <a:ext cx="658368" cy="65836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03136" y="38404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Encryption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803136" y="418795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secure messages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91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50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learnings from this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040F1E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73152" cy="8229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0607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Implementation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138988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real-time chat system built from scratch using Node.js and Socket.IO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993392"/>
            <a:ext cx="8595360" cy="822960"/>
          </a:xfrm>
          <a:prstGeom prst="rect">
            <a:avLst/>
          </a:prstGeom>
          <a:solidFill>
            <a:srgbClr val="040F1E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993392"/>
            <a:ext cx="73152" cy="8229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762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0482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Communication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24128" y="237744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sub-millisecond message delivery using WebSocket persistent connections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980944"/>
            <a:ext cx="8595360" cy="822960"/>
          </a:xfrm>
          <a:prstGeom prst="rect">
            <a:avLst/>
          </a:prstGeom>
          <a:solidFill>
            <a:srgbClr val="040F1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2980944"/>
            <a:ext cx="73152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63824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0358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Concepts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24128" y="336499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event-driven architecture, TCP/IP, and WebSocket protocol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3968496"/>
            <a:ext cx="8595360" cy="822960"/>
          </a:xfrm>
          <a:prstGeom prst="rect">
            <a:avLst/>
          </a:prstGeom>
          <a:solidFill>
            <a:srgbClr val="040F1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74320" y="3968496"/>
            <a:ext cx="73152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5137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24128" y="435254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frontend, backend, and database into a cohesive production-ready application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828800" y="2633472"/>
            <a:ext cx="54864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GUPTA💹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and User Tracking System  |  Vivek Gupta  |  Arka Jain University  |  CSE 2025–2026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41648"/>
            <a:ext cx="475488" cy="475488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576" y="4041648"/>
            <a:ext cx="475488" cy="47548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4041648"/>
            <a:ext cx="475488" cy="47548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4041648"/>
            <a:ext cx="475488" cy="475488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4" y="4041648"/>
            <a:ext cx="475488" cy="47548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041648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4041648"/>
            <a:ext cx="475488" cy="475488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830</Words>
  <Application>Microsoft Office PowerPoint</Application>
  <PresentationFormat>On-screen Show (16:9)</PresentationFormat>
  <Paragraphs>243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Chat and User Tracking System</dc:title>
  <dc:subject>PptxGenJS Presentation</dc:subject>
  <dc:creator>Vivek Gupta</dc:creator>
  <cp:lastModifiedBy>vivek kumar</cp:lastModifiedBy>
  <cp:revision>2</cp:revision>
  <dcterms:created xsi:type="dcterms:W3CDTF">2026-05-23T14:14:57Z</dcterms:created>
  <dcterms:modified xsi:type="dcterms:W3CDTF">2026-05-23T14:31:13Z</dcterms:modified>
</cp:coreProperties>
</file>